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E9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4A3B8"/>
                </a:solidFill>
                <a:latin typeface="Calibri"/>
              </a:rPr>
              <a:t>SmileBright Dental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What we have — and where SmileBright Operations takes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  <a:latin typeface="Calibri"/>
              </a:rPr>
              <a:t>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5349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25"/>
              </a:spcAft>
            </a:pPr>
            <a:r>
              <a:rPr sz="1500">
                <a:solidFill>
                  <a:srgbClr val="E2E8F0"/>
                </a:solidFill>
                <a:latin typeface="Calibri"/>
              </a:rPr>
              <a:t>›  No-shows go unnoticed until the chair sits empty.</a:t>
            </a:r>
          </a:p>
          <a:p>
            <a:pPr>
              <a:spcAft>
                <a:spcPts val="1725"/>
              </a:spcAft>
            </a:pPr>
            <a:r>
              <a:rPr sz="1500">
                <a:solidFill>
                  <a:srgbClr val="E2E8F0"/>
                </a:solidFill>
                <a:latin typeface="Calibri"/>
              </a:rPr>
              <a:t>›  Lapsed patients are recalled by hand, when someone remembers.</a:t>
            </a:r>
          </a:p>
          <a:p>
            <a:pPr>
              <a:spcAft>
                <a:spcPts val="1725"/>
              </a:spcAft>
            </a:pPr>
            <a:r>
              <a:rPr sz="1500">
                <a:solidFill>
                  <a:srgbClr val="E2E8F0"/>
                </a:solidFill>
                <a:latin typeface="Calibri"/>
              </a:rPr>
              <a:t>›  The schedule is rebuilt every morning from three places.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Calibri"/>
              </a:rPr>
              <a:t>WITH SMILEBRIGHT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560320"/>
            <a:ext cx="5349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25"/>
              </a:spcAft>
            </a:pPr>
            <a:r>
              <a:rPr sz="1500">
                <a:solidFill>
                  <a:srgbClr val="E2E8F0"/>
                </a:solidFill>
                <a:latin typeface="Calibri"/>
              </a:rPr>
              <a:t>›  Fill the schedule automatically and recover the revenue no-shows take with them.</a:t>
            </a:r>
          </a:p>
          <a:p>
            <a:pPr>
              <a:spcAft>
                <a:spcPts val="1725"/>
              </a:spcAft>
            </a:pPr>
            <a:r>
              <a:rPr sz="1500">
                <a:solidFill>
                  <a:srgbClr val="E2E8F0"/>
                </a:solidFill>
                <a:latin typeface="Calibri"/>
              </a:rPr>
              <a:t>›  Automatic recall of lapsed patients</a:t>
            </a:r>
          </a:p>
          <a:p>
            <a:pPr>
              <a:spcAft>
                <a:spcPts val="1725"/>
              </a:spcAft>
            </a:pPr>
            <a:r>
              <a:rPr sz="1500">
                <a:solidFill>
                  <a:srgbClr val="E2E8F0"/>
                </a:solidFill>
                <a:latin typeface="Calibri"/>
              </a:rPr>
              <a:t>›  Same-day gap filling from the waitlist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An AI front-desk that fills the schedule, chases no-shows and recalls lapsed patients automatically.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E9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9594"/>
                </a:solidFill>
                <a:latin typeface="Calibri"/>
              </a:rPr>
              <a:t>SMILEBRIGHT OPERATIONS  ·  SCREEN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Calibri"/>
              </a:rPr>
              <a:t>Dashboard</a:t>
            </a:r>
          </a:p>
        </p:txBody>
      </p:sp>
      <p:pic>
        <p:nvPicPr>
          <p:cNvPr id="5" name="Picture 4" descr="dashboard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58" y="1417320"/>
            <a:ext cx="7173164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58200" y="1417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alibri"/>
              </a:rPr>
              <a:t>IN DETAIL</a:t>
            </a:r>
          </a:p>
        </p:txBody>
      </p:sp>
      <p:pic>
        <p:nvPicPr>
          <p:cNvPr id="7" name="Picture 6" descr="dashboard_detail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427203"/>
            <a:ext cx="3200400" cy="952034"/>
          </a:xfrm>
          <a:prstGeom prst="rect">
            <a:avLst/>
          </a:prstGeom>
        </p:spPr>
      </p:pic>
      <p:pic>
        <p:nvPicPr>
          <p:cNvPr id="8" name="Picture 7" descr="dashboard_detail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4355305"/>
            <a:ext cx="3200400" cy="18507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E9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9594"/>
                </a:solidFill>
                <a:latin typeface="Calibri"/>
              </a:rPr>
              <a:t>SMILEBRIGHT OPERATIONS  ·  SCREEN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Calibri"/>
              </a:rPr>
              <a:t>Schedule</a:t>
            </a:r>
          </a:p>
        </p:txBody>
      </p:sp>
      <p:pic>
        <p:nvPicPr>
          <p:cNvPr id="5" name="Picture 4" descr="schedul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58" y="1417320"/>
            <a:ext cx="7173164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58200" y="1417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alibri"/>
              </a:rPr>
              <a:t>IN DETAIL</a:t>
            </a:r>
          </a:p>
        </p:txBody>
      </p:sp>
      <p:pic>
        <p:nvPicPr>
          <p:cNvPr id="7" name="Picture 6" descr="schedule_detail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427203"/>
            <a:ext cx="3200400" cy="952034"/>
          </a:xfrm>
          <a:prstGeom prst="rect">
            <a:avLst/>
          </a:prstGeom>
        </p:spPr>
      </p:pic>
      <p:pic>
        <p:nvPicPr>
          <p:cNvPr id="8" name="Picture 7" descr="schedule_detail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4355305"/>
            <a:ext cx="3200400" cy="18507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E9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9594"/>
                </a:solidFill>
                <a:latin typeface="Calibri"/>
              </a:rPr>
              <a:t>AI EMPLOYEE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AI Front 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Confirms, reschedules and fills cancellations without anyone picking up the phone.</a:t>
            </a:r>
          </a:p>
        </p:txBody>
      </p:sp>
      <p:pic>
        <p:nvPicPr>
          <p:cNvPr id="6" name="Picture 5" descr="dashboard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129195"/>
            <a:ext cx="5486400" cy="37766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72200" y="5074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Dashboard — SmileBright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Prepared for SmileBright Dental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E9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9594"/>
                </a:solidFill>
                <a:latin typeface="Calibri"/>
              </a:rPr>
              <a:t>AI EMPLOYEE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AI Recall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Works the lapsed-patient list every day and books the ones who reply.</a:t>
            </a:r>
          </a:p>
        </p:txBody>
      </p:sp>
      <p:pic>
        <p:nvPicPr>
          <p:cNvPr id="6" name="Picture 5" descr="schedul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129195"/>
            <a:ext cx="5486400" cy="37766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72200" y="5074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Schedule — SmileBright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Prepared for SmileBright Dental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E9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  <a:latin typeface="Calibri"/>
              </a:rPr>
              <a:t>The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Ready to make SmileBright Operations real?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432907" cy="2651760"/>
          </a:xfrm>
          <a:prstGeom prst="roundRect">
            <a:avLst/>
          </a:prstGeom>
          <a:solidFill>
            <a:srgbClr val="141B2E"/>
          </a:solidFill>
          <a:ln>
            <a:solidFill>
              <a:srgbClr val="2A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3200" rIns="203200" tIns="228600" bIns="228600"/>
          <a:lstStyle/>
          <a:p>
            <a:pPr algn="l"/>
            <a:r>
              <a:rPr b="1" sz="1500">
                <a:solidFill>
                  <a:srgbClr val="FFFFFF"/>
                </a:solidFill>
                <a:latin typeface="Calibri"/>
              </a:rPr>
              <a:t>AI Front Desk</a:t>
            </a:r>
          </a:p>
          <a:p>
            <a:pPr algn="l">
              <a:spcBef>
                <a:spcPts val="800"/>
              </a:spcBef>
            </a:pPr>
            <a:r>
              <a:rPr sz="1150">
                <a:solidFill>
                  <a:srgbClr val="94A3B8"/>
                </a:solidFill>
                <a:latin typeface="Calibri"/>
              </a:rPr>
              <a:t>Confirms, reschedules and fills cancellations without anyone picking up the phone.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0147" y="2286000"/>
            <a:ext cx="5432907" cy="2651760"/>
          </a:xfrm>
          <a:prstGeom prst="roundRect">
            <a:avLst/>
          </a:prstGeom>
          <a:solidFill>
            <a:srgbClr val="141B2E"/>
          </a:solidFill>
          <a:ln>
            <a:solidFill>
              <a:srgbClr val="2A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3200" rIns="203200" tIns="228600" bIns="228600"/>
          <a:lstStyle/>
          <a:p>
            <a:pPr algn="l"/>
            <a:r>
              <a:rPr b="1" sz="1500">
                <a:solidFill>
                  <a:srgbClr val="FFFFFF"/>
                </a:solidFill>
                <a:latin typeface="Calibri"/>
              </a:rPr>
              <a:t>AI Recall Assistant</a:t>
            </a:r>
          </a:p>
          <a:p>
            <a:pPr algn="l">
              <a:spcBef>
                <a:spcPts val="800"/>
              </a:spcBef>
            </a:pPr>
            <a:r>
              <a:rPr sz="1150">
                <a:solidFill>
                  <a:srgbClr val="94A3B8"/>
                </a:solidFill>
                <a:latin typeface="Calibri"/>
              </a:rPr>
              <a:t>Works the lapsed-patient list every day and books the ones who reply.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Prepared exclusively for SmileBright Dental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